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6792" y="173736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264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KOI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F9D5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66267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8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KOI</a:t>
            </a:r>
            <a:endParaRPr lang="en-US" sz="2028" dirty="0"/>
          </a:p>
        </p:txBody>
      </p:sp>
      <p:sp>
        <p:nvSpPr>
          <p:cNvPr id="5" name="Text 3"/>
          <p:cNvSpPr/>
          <p:nvPr/>
        </p:nvSpPr>
        <p:spPr>
          <a:xfrm>
            <a:off x="841248" y="1965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D5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PANORAMA MIND MAP · 2026-09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KOI Recall 召回平台</a:t>
            </a:r>
            <a:endParaRPr lang="en-US" sz="48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全景导图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868680" y="4224528"/>
            <a:ext cx="146304" cy="146304"/>
          </a:xfrm>
          <a:prstGeom prst="ellipse">
            <a:avLst/>
          </a:prstGeom>
          <a:solidFill>
            <a:srgbClr val="D9536B"/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" y="4224528"/>
            <a:ext cx="146304" cy="146304"/>
          </a:xfrm>
          <a:prstGeom prst="ellipse">
            <a:avLst/>
          </a:prstGeom>
          <a:solidFill>
            <a:srgbClr val="2F9A7B"/>
          </a:solidFill>
          <a:ln/>
        </p:spPr>
      </p:sp>
      <p:sp>
        <p:nvSpPr>
          <p:cNvPr id="9" name="Shape 7"/>
          <p:cNvSpPr/>
          <p:nvPr/>
        </p:nvSpPr>
        <p:spPr>
          <a:xfrm>
            <a:off x="1490472" y="4224528"/>
            <a:ext cx="146304" cy="146304"/>
          </a:xfrm>
          <a:prstGeom prst="ellipse">
            <a:avLst/>
          </a:prstGeom>
          <a:solidFill>
            <a:srgbClr val="3E8EC9"/>
          </a:solidFill>
          <a:ln/>
        </p:spPr>
      </p:sp>
      <p:sp>
        <p:nvSpPr>
          <p:cNvPr id="10" name="Shape 8"/>
          <p:cNvSpPr/>
          <p:nvPr/>
        </p:nvSpPr>
        <p:spPr>
          <a:xfrm>
            <a:off x="1801368" y="4224528"/>
            <a:ext cx="146304" cy="146304"/>
          </a:xfrm>
          <a:prstGeom prst="ellipse">
            <a:avLst/>
          </a:prstGeom>
          <a:solidFill>
            <a:srgbClr val="B07E1F"/>
          </a:solidFill>
          <a:ln/>
        </p:spPr>
      </p:sp>
      <p:sp>
        <p:nvSpPr>
          <p:cNvPr id="11" name="Shape 9"/>
          <p:cNvSpPr/>
          <p:nvPr/>
        </p:nvSpPr>
        <p:spPr>
          <a:xfrm>
            <a:off x="2112264" y="4224528"/>
            <a:ext cx="146304" cy="146304"/>
          </a:xfrm>
          <a:prstGeom prst="ellipse">
            <a:avLst/>
          </a:prstGeom>
          <a:solidFill>
            <a:srgbClr val="C96F3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45262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D0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所用技术 · 实现步骤 · 功能需求 · 安全合规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koiimprtinc.com      ·      koi-recall-web / koi-recall-admin / koi-recall-backend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6F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平台总览:一个产品 · 三个仓库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703320" cy="2999232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55648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D9536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4467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</a:t>
            </a:r>
            <a:endParaRPr lang="en-US" sz="1196" dirty="0"/>
          </a:p>
        </p:txBody>
      </p:sp>
      <p:sp>
        <p:nvSpPr>
          <p:cNvPr id="7" name="Text 5"/>
          <p:cNvSpPr/>
          <p:nvPr/>
        </p:nvSpPr>
        <p:spPr>
          <a:xfrm>
            <a:off x="1261872" y="1737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koi-recall-web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261872" y="20116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端消费者站 · www.koiimprtinc.com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23744"/>
            <a:ext cx="82296" cy="82296"/>
          </a:xfrm>
          <a:prstGeom prst="ellipse">
            <a:avLst/>
          </a:prstGeom>
          <a:solidFill>
            <a:srgbClr val="D9536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3957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召回查询 · 产品校验 · 索赔提交 · 进度跟踪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145536"/>
            <a:ext cx="82296" cy="82296"/>
          </a:xfrm>
          <a:prstGeom prst="ellipse">
            <a:avLst/>
          </a:prstGeom>
          <a:solidFill>
            <a:srgbClr val="D9536B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0175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召回详情“三刀流” · 免注册 / 注册双模式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767328"/>
            <a:ext cx="82296" cy="82296"/>
          </a:xfrm>
          <a:prstGeom prst="ellipse">
            <a:avLst/>
          </a:prstGeom>
          <a:solidFill>
            <a:srgbClr val="D9536B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6393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16 全栈 · Vercel 部署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304288" y="4480560"/>
            <a:ext cx="0" cy="384048"/>
          </a:xfrm>
          <a:prstGeom prst="line">
            <a:avLst/>
          </a:prstGeom>
          <a:noFill/>
          <a:ln w="19050">
            <a:solidFill>
              <a:srgbClr val="D8C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0832" y="1481328"/>
            <a:ext cx="3703320" cy="2999232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755648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F9A7B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174467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96" dirty="0"/>
          </a:p>
        </p:txBody>
      </p:sp>
      <p:sp>
        <p:nvSpPr>
          <p:cNvPr id="19" name="Text 17"/>
          <p:cNvSpPr/>
          <p:nvPr/>
        </p:nvSpPr>
        <p:spPr>
          <a:xfrm>
            <a:off x="5175504" y="1737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koi-recall-admin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175504" y="20116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9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端后台 · admin.koiimprtinc.com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45152" y="2523744"/>
            <a:ext cx="82296" cy="82296"/>
          </a:xfrm>
          <a:prstGeom prst="ellipse">
            <a:avLst/>
          </a:prstGeom>
          <a:solidFill>
            <a:srgbClr val="2F9A7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3957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案件审核全流程 · 10 态状态机操作台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45152" y="3145536"/>
            <a:ext cx="82296" cy="82296"/>
          </a:xfrm>
          <a:prstGeom prst="ellipse">
            <a:avLst/>
          </a:prstGeom>
          <a:solidFill>
            <a:srgbClr val="2F9A7B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0175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处置管理 · 退款导出 · 员工与审计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45152" y="3767328"/>
            <a:ext cx="82296" cy="82296"/>
          </a:xfrm>
          <a:prstGeom prst="ellipse">
            <a:avLst/>
          </a:prstGeom>
          <a:solidFill>
            <a:srgbClr val="2F9A7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6393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16 + Ant Design 6 · RBAC 双角色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17920" y="4480560"/>
            <a:ext cx="0" cy="384048"/>
          </a:xfrm>
          <a:prstGeom prst="line">
            <a:avLst/>
          </a:prstGeom>
          <a:noFill/>
          <a:ln w="19050">
            <a:solidFill>
              <a:srgbClr val="D8CF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84464" y="1481328"/>
            <a:ext cx="3703320" cy="2999232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40496" y="1755648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3E8EC9"/>
          </a:solidFill>
          <a:ln/>
        </p:spPr>
      </p:sp>
      <p:sp>
        <p:nvSpPr>
          <p:cNvPr id="30" name="Text 28"/>
          <p:cNvSpPr/>
          <p:nvPr/>
        </p:nvSpPr>
        <p:spPr>
          <a:xfrm>
            <a:off x="8540496" y="174467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96" dirty="0"/>
          </a:p>
        </p:txBody>
      </p:sp>
      <p:sp>
        <p:nvSpPr>
          <p:cNvPr id="31" name="Text 29"/>
          <p:cNvSpPr/>
          <p:nvPr/>
        </p:nvSpPr>
        <p:spPr>
          <a:xfrm>
            <a:off x="9089136" y="1737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koi-recall-backend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089136" y="20116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服务端 · Vercel Functions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58784" y="2523744"/>
            <a:ext cx="82296" cy="82296"/>
          </a:xfrm>
          <a:prstGeom prst="ellipse">
            <a:avLst/>
          </a:prstGeom>
          <a:solidFill>
            <a:srgbClr val="3E8EC9"/>
          </a:solidFill>
          <a:ln/>
        </p:spPr>
      </p:sp>
      <p:sp>
        <p:nvSpPr>
          <p:cNvPr id="34" name="Text 32"/>
          <p:cNvSpPr/>
          <p:nvPr/>
        </p:nvSpPr>
        <p:spPr>
          <a:xfrm>
            <a:off x="8759952" y="23957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Hono 4 + Drizzle ORM · 46 张表 24 迁移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558784" y="3145536"/>
            <a:ext cx="82296" cy="82296"/>
          </a:xfrm>
          <a:prstGeom prst="ellipse">
            <a:avLst/>
          </a:prstGeom>
          <a:solidFill>
            <a:srgbClr val="3E8EC9"/>
          </a:solidFill>
          <a:ln/>
        </p:spPr>
      </p:sp>
      <p:sp>
        <p:nvSpPr>
          <p:cNvPr id="36" name="Text 34"/>
          <p:cNvSpPr/>
          <p:nvPr/>
        </p:nvSpPr>
        <p:spPr>
          <a:xfrm>
            <a:off x="8759952" y="30175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 /v1 + 管理端 /admin 双面 API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558784" y="3767328"/>
            <a:ext cx="82296" cy="82296"/>
          </a:xfrm>
          <a:prstGeom prst="ellipse">
            <a:avLst/>
          </a:prstGeom>
          <a:solidFill>
            <a:srgbClr val="3E8EC9"/>
          </a:solidFill>
          <a:ln/>
        </p:spPr>
      </p:sp>
      <p:sp>
        <p:nvSpPr>
          <p:cNvPr id="38" name="Text 36"/>
          <p:cNvSpPr/>
          <p:nvPr/>
        </p:nvSpPr>
        <p:spPr>
          <a:xfrm>
            <a:off x="8759952" y="36393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OpenAPI 3.1 契约 · 单一事实源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0131552" y="4480560"/>
            <a:ext cx="0" cy="384048"/>
          </a:xfrm>
          <a:prstGeom prst="line">
            <a:avLst/>
          </a:prstGeom>
          <a:noFill/>
          <a:ln w="19050">
            <a:solidFill>
              <a:srgbClr val="D8CFC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4864608"/>
            <a:ext cx="12188952" cy="1170432"/>
          </a:xfrm>
          <a:prstGeom prst="rect">
            <a:avLst/>
          </a:prstGeom>
          <a:solidFill>
            <a:srgbClr val="FBF3DC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5029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52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契约驱动 · 自动部署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57200" y="535838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5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OpenAPI 3.1(2258 行)为三端单一事实源,类型自动生成不漂移;GitHub push main → Vercel 自动部署;CI 门禁:typecheck · lint · format · openapi:check · db:check · vitest 全绿。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依据三仓库 README · package.json · koi-recall-backend/docs/phase-1 整理 · 2026-09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817352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5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TECH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所用技术:TypeScript 全栈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3703320" cy="3913632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6824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D9536B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67152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1170432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 · Web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19202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koi-recall-web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2286000"/>
            <a:ext cx="324612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3957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16.2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Router · Turbopack · RSC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944" y="288950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19.2 + TS 5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组件与契约类型全量 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4944" y="33832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 v4 + shadcn / Base UI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Candy Safety 设计系统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4944" y="387705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Hook Form + Zod 4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索赔表单前后端同源校验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4944" y="43708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Framer Motion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“三刀流”滚动叙事动效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4944" y="486460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@vercel/blob + Playwright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证据直传 · 冒烟预览脚本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70832" y="1444752"/>
            <a:ext cx="3703320" cy="3913632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6824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2F9A7B"/>
          </a:solidFill>
          <a:ln/>
        </p:spPr>
      </p:sp>
      <p:sp>
        <p:nvSpPr>
          <p:cNvPr id="18" name="Text 16"/>
          <p:cNvSpPr/>
          <p:nvPr/>
        </p:nvSpPr>
        <p:spPr>
          <a:xfrm>
            <a:off x="4608576" y="167152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5084064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端 · Admin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84064" y="19202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9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koi-recall-admin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08576" y="2286000"/>
            <a:ext cx="324612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23957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16.2 + React 19.2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C 端同构技术底座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08576" y="288950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 Design 6.6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 / 表单密集后台 · SSR Registry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08576" y="33832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 v4 + shadcn/ui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Ethereal Emerald 设计系统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08576" y="387705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Hook Form + Zod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审核操作与关闭检查表单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08576" y="43708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rbac.ts 权限矩阵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前端镜像后端 RBAC · 按钮级控制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08576" y="486460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可收起侧边栏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64px ↔ 236px 案件详情工作台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84464" y="1444752"/>
            <a:ext cx="3703320" cy="3913632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22208" y="16824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3E8EC9"/>
          </a:solidFill>
          <a:ln/>
        </p:spPr>
      </p:sp>
      <p:sp>
        <p:nvSpPr>
          <p:cNvPr id="30" name="Text 28"/>
          <p:cNvSpPr/>
          <p:nvPr/>
        </p:nvSpPr>
        <p:spPr>
          <a:xfrm>
            <a:off x="8522208" y="167152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8997696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· Backend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97696" y="19202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koi-recall-backend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22208" y="2286000"/>
            <a:ext cx="324612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22208" y="23957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24 + TS strict · pnpm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 ^6 严格模式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522208" y="288950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Hono 4 + @hono/zod-openapi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契约即代码:路由·校验·文档一体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522208" y="33832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Drizzle ORM 0.45 + Kit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 schema 文件 · 46 表 · 24 迁移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522208" y="387705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17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Neon Serverless · 本地 docker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522208" y="43708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Resend + Svix · Upstash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邮件回执验签 · 跨实例限流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522208" y="486460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Vitest 4 三层测试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 → 单元/HTTP → PG 集成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57200" y="5614416"/>
            <a:ext cx="11274552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基础设施与工程化  </a:t>
            </a:r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Vercel 全栈托管(www / admin / api 三域名)· push main 自动部署 · OpenAPI 3.1 契约 2258 行 · Vercel Private Blob 证据存储 · 14 项 .env 配置分域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版本取自各仓库 package.json(2026-09)· 详见 backend/docs/phase-1/01-server-architecture.md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817352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07E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实现步骤:核心业务主线(9 步)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703320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572768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8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2588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浏览召回 Campaign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38528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slug + code 访问;draft→scheduled→active→paused→closed;版本化 + 多语言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463040"/>
            <a:ext cx="3703320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17136" y="1572768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8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239512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产品预筛 Product Check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39512" y="1938528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shape / flavor / lotCode / dateCode 四要素 → potential_match / not_matched / manual_review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84464" y="1463040"/>
            <a:ext cx="3703320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30768" y="1572768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8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53144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索赔草稿 Claim Draft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53144" y="1938528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匿名草稿 token 仅存 hash;证据直传 Private Blob(一次性 upload token + 回调校验)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3703320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20040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5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325880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提交建案 Submit Claim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566160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单事务写入 Case 聚合 + 确认函 + Outbox;AES-256-GCM 加密 PII;幂等键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70832" y="3090672"/>
            <a:ext cx="3703320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17136" y="320040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9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239512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后台审核 Case Review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3566160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认领 → 分诊 → 审查 ⇄ 补件;approved 后必须过 closure_review 双门闩才可 closed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84464" y="3090672"/>
            <a:ext cx="3703320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30768" y="320040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9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9153144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补偿 Resolution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53144" y="3566160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requested → approved → complete → externally_completed / cancelled;退款 CSV + SHA-256 留痕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718304"/>
            <a:ext cx="3703320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" y="4828032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9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1325880" y="4882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消费者处置 Disposal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25880" y="5193792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指引版本 → 处置任务 → 证据批次人工审核 → 处置授权(coverage 快照)→ 完成声明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70832" y="4718304"/>
            <a:ext cx="3703320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17136" y="4828032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7E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5239512" y="4882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邮件通知 Notification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39512" y="5193792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Transactional Outbox → Cron 每日排空 → Resend 发送 → Svix 验签回执;9 触点模板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84464" y="4718304"/>
            <a:ext cx="3703320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430768" y="4828032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6F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9153144" y="4882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事故与合规 Incident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53144" y="5193792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Incident → Reportability(pending → filed 含 CPSC 编号 / documented_non_reportable)→ Escalation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 Draft → 建案 KOI-XXXX-XXXXXXXX → Admin 处理同一 Case,CaseWorkflowPolicy 保证前后端流转一致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817352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F9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案件状态机与研发路线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案件状态机 · 10 个内部状态(4 终态)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316736" cy="603504"/>
          </a:xfrm>
          <a:prstGeom prst="roundRect">
            <a:avLst>
              <a:gd name="adj" fmla="val 12121"/>
            </a:avLst>
          </a:prstGeom>
          <a:solidFill>
            <a:srgbClr val="E5F5EF"/>
          </a:solidFill>
          <a:ln w="15240">
            <a:solidFill>
              <a:srgbClr val="9BC8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7393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submitted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已提交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019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66544" y="1755648"/>
            <a:ext cx="1316736" cy="603504"/>
          </a:xfrm>
          <a:prstGeom prst="roundRect">
            <a:avLst>
              <a:gd name="adj" fmla="val 12121"/>
            </a:avLst>
          </a:prstGeom>
          <a:solidFill>
            <a:srgbClr val="E5F5EF"/>
          </a:solidFill>
          <a:ln w="15240">
            <a:solidFill>
              <a:srgbClr val="9BC8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6544" y="177393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分诊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46704" y="19019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75888" y="1755648"/>
            <a:ext cx="1316736" cy="603504"/>
          </a:xfrm>
          <a:prstGeom prst="roundRect">
            <a:avLst>
              <a:gd name="adj" fmla="val 12121"/>
            </a:avLst>
          </a:prstGeom>
          <a:solidFill>
            <a:srgbClr val="E5F5EF"/>
          </a:solidFill>
          <a:ln w="15240">
            <a:solidFill>
              <a:srgbClr val="9BC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77393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under_review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审查中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9019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85232" y="1755648"/>
            <a:ext cx="1316736" cy="603504"/>
          </a:xfrm>
          <a:prstGeom prst="roundRect">
            <a:avLst>
              <a:gd name="adj" fmla="val 12121"/>
            </a:avLst>
          </a:prstGeom>
          <a:solidFill>
            <a:srgbClr val="E5F5EF"/>
          </a:solidFill>
          <a:ln w="15240">
            <a:solidFill>
              <a:srgbClr val="9BC8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77393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need_info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5392" y="19019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94576" y="1755648"/>
            <a:ext cx="1316736" cy="603504"/>
          </a:xfrm>
          <a:prstGeom prst="roundRect">
            <a:avLst>
              <a:gd name="adj" fmla="val 12121"/>
            </a:avLst>
          </a:prstGeom>
          <a:solidFill>
            <a:srgbClr val="E5F5EF"/>
          </a:solidFill>
          <a:ln w="15240">
            <a:solidFill>
              <a:srgbClr val="9BC8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177393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已批准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74736" y="19019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1755648"/>
            <a:ext cx="1316736" cy="603504"/>
          </a:xfrm>
          <a:prstGeom prst="roundRect">
            <a:avLst>
              <a:gd name="adj" fmla="val 12121"/>
            </a:avLst>
          </a:prstGeom>
          <a:solidFill>
            <a:srgbClr val="E5F5EF"/>
          </a:solidFill>
          <a:ln w="15240">
            <a:solidFill>
              <a:srgbClr val="9BC8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177393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closure_review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关闭审查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84080" y="19019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113264" y="1755648"/>
            <a:ext cx="1316736" cy="603504"/>
          </a:xfrm>
          <a:prstGeom prst="roundRect">
            <a:avLst>
              <a:gd name="adj" fmla="val 12121"/>
            </a:avLst>
          </a:prstGeom>
          <a:solidFill>
            <a:srgbClr val="1E3A4F"/>
          </a:solidFill>
          <a:ln w="15240">
            <a:solidFill>
              <a:srgbClr val="1E3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13264" y="177393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3D0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已关闭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26883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终态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188720" y="2615184"/>
            <a:ext cx="1316736" cy="603504"/>
          </a:xfrm>
          <a:prstGeom prst="roundRect">
            <a:avLst>
              <a:gd name="adj" fmla="val 12121"/>
            </a:avLst>
          </a:prstGeom>
          <a:solidFill>
            <a:srgbClr val="F1EEE6"/>
          </a:solidFill>
          <a:ln w="12700">
            <a:solidFill>
              <a:srgbClr val="A3977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188720" y="2633472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rejected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已拒绝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61488" y="2615184"/>
            <a:ext cx="1316736" cy="603504"/>
          </a:xfrm>
          <a:prstGeom prst="roundRect">
            <a:avLst>
              <a:gd name="adj" fmla="val 12121"/>
            </a:avLst>
          </a:prstGeom>
          <a:solidFill>
            <a:srgbClr val="F1EEE6"/>
          </a:solidFill>
          <a:ln w="12700">
            <a:solidFill>
              <a:srgbClr val="A3977F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2761488" y="2633472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duplicate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重复案件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34256" y="2615184"/>
            <a:ext cx="1316736" cy="603504"/>
          </a:xfrm>
          <a:prstGeom prst="roundRect">
            <a:avLst>
              <a:gd name="adj" fmla="val 12121"/>
            </a:avLst>
          </a:prstGeom>
          <a:solidFill>
            <a:srgbClr val="F1EEE6"/>
          </a:solidFill>
          <a:ln w="12700">
            <a:solidFill>
              <a:srgbClr val="A3977F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334256" y="2633472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withdrawn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已撤回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53328" y="26883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合规升级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022592" y="2615184"/>
            <a:ext cx="2377440" cy="603504"/>
          </a:xfrm>
          <a:prstGeom prst="roundRect">
            <a:avLst>
              <a:gd name="adj" fmla="val 12121"/>
            </a:avLst>
          </a:prstGeom>
          <a:solidFill>
            <a:srgbClr val="FBEADD"/>
          </a:solidFill>
          <a:ln w="12700">
            <a:solidFill>
              <a:srgbClr val="C96F3F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7022592" y="26334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4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escalated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6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伤害事故强制 → 合规通道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321868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双门闩:approved → closed 已移除,须 Resolution externally_completed + Reportability 已关闭;CaseWorkflowPolicy 为唯一事实源。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767328"/>
            <a:ext cx="11274552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50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研发实施路线 · Phase 1 → NOW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822960" y="4590288"/>
            <a:ext cx="10515600" cy="0"/>
          </a:xfrm>
          <a:prstGeom prst="line">
            <a:avLst/>
          </a:prstGeom>
          <a:noFill/>
          <a:ln w="19050">
            <a:solidFill>
              <a:srgbClr val="D8CF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4517136"/>
            <a:ext cx="155448" cy="155448"/>
          </a:xfrm>
          <a:prstGeom prst="ellipse">
            <a:avLst/>
          </a:prstGeom>
          <a:solidFill>
            <a:srgbClr val="3E8EC9"/>
          </a:solidFill>
          <a:ln/>
        </p:spPr>
      </p:sp>
      <p:sp>
        <p:nvSpPr>
          <p:cNvPr id="40" name="Text 38"/>
          <p:cNvSpPr/>
          <p:nvPr/>
        </p:nvSpPr>
        <p:spPr>
          <a:xfrm>
            <a:off x="566928" y="48463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· 后端先行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66928" y="532180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契约优先骨架 → 46 表建模 → ToC API → 前端接入(docs/phase-1 01–05)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730752" y="4517136"/>
            <a:ext cx="155448" cy="155448"/>
          </a:xfrm>
          <a:prstGeom prst="ellipse">
            <a:avLst/>
          </a:prstGeom>
          <a:solidFill>
            <a:srgbClr val="2F9A7B"/>
          </a:solidFill>
          <a:ln/>
        </p:spPr>
      </p:sp>
      <p:sp>
        <p:nvSpPr>
          <p:cNvPr id="43" name="Text 41"/>
          <p:cNvSpPr/>
          <p:nvPr/>
        </p:nvSpPr>
        <p:spPr>
          <a:xfrm>
            <a:off x="2834640" y="48463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· Admin 接 API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2834640" y="532180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optimization-plan-v2:Resolution / Workflow / Refund 四大工作流改造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98464" y="4517136"/>
            <a:ext cx="155448" cy="155448"/>
          </a:xfrm>
          <a:prstGeom prst="ellipse">
            <a:avLst/>
          </a:prstGeom>
          <a:solidFill>
            <a:srgbClr val="B07E1F"/>
          </a:solidFill>
          <a:ln/>
        </p:spPr>
      </p:sp>
      <p:sp>
        <p:nvSpPr>
          <p:cNvPr id="46" name="Text 44"/>
          <p:cNvSpPr/>
          <p:nvPr/>
        </p:nvSpPr>
        <p:spPr>
          <a:xfrm>
            <a:off x="5102352" y="48463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能力增强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102352" y="532180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邮件全链路 · 缓存标签按需失效 · /publish 发布接口 · Upstash 限流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266176" y="4517136"/>
            <a:ext cx="155448" cy="155448"/>
          </a:xfrm>
          <a:prstGeom prst="ellipse">
            <a:avLst/>
          </a:prstGeom>
          <a:solidFill>
            <a:srgbClr val="C96F3F"/>
          </a:solidFill>
          <a:ln/>
        </p:spPr>
      </p:sp>
      <p:sp>
        <p:nvSpPr>
          <p:cNvPr id="49" name="Text 47"/>
          <p:cNvSpPr/>
          <p:nvPr/>
        </p:nvSpPr>
        <p:spPr>
          <a:xfrm>
            <a:off x="7370064" y="48463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事故整改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7370064" y="532180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P0-A 处置一致性 → P0-B escalated 状态 → P1(A01–A35 · 隔离测试库)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533888" y="4517136"/>
            <a:ext cx="155448" cy="155448"/>
          </a:xfrm>
          <a:prstGeom prst="ellipse">
            <a:avLst/>
          </a:prstGeom>
          <a:solidFill>
            <a:srgbClr val="4E6E86"/>
          </a:solidFill>
          <a:ln/>
        </p:spPr>
      </p:sp>
      <p:sp>
        <p:nvSpPr>
          <p:cNvPr id="52" name="Text 50"/>
          <p:cNvSpPr/>
          <p:nvPr/>
        </p:nvSpPr>
        <p:spPr>
          <a:xfrm>
            <a:off x="9637776" y="48463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现状与风险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9637776" y="532180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三端已上线 · CI 全绿;邮件时效与负载测试为遗留风险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64739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状态机口径:koi-recall-admin/docs/case-review-workflow.md · 整改路线:.zcode/plans 整改执行方案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817352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8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功能需求:C 端 · B 端 · API · 数据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5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57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端页面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68833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9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364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端模块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89534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8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端点组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51023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7E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5779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数据表 · 24 迁移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83280" y="1481328"/>
            <a:ext cx="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481328"/>
            <a:ext cx="0" cy="466344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1444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3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端页面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1773936"/>
            <a:ext cx="8001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首页检索 · /recalls/[slug] 召回详情“三刀流”(概览→校验→索赔)· 消费者处置任务页 · /lookup 免注册查询(编号+手机号)· /dashboard 用户中心 · FAQ / 隐私内容页;游客会话 + 注册认证双模式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03320" y="2505456"/>
            <a:ext cx="800100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633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9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端模块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2962656"/>
            <a:ext cx="8001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案件列表(统计卡 · 筛选 · 认领 · CSV)+ 案件详情工作台(证据卡 · 两级 PII · 指派 · 状态流转 · Resolution 审批 · Closure Checklist · 审计时间线)· 6 运营队列 · incidents · exports · access · disposal 内容库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03320" y="3694176"/>
            <a:ext cx="800100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3822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端点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03320" y="4151376"/>
            <a:ext cx="8001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/v1 消费者(campaigns · product-checks · claim-drafts+documents · claims · consumer-auth)· /admin 管理(全业务 + publish 发布)· /webhooks(resend · vercel-blob)· /internal(outbox · cleanup-drafts)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703320" y="4882896"/>
            <a:ext cx="800100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5010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7E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03320" y="5340096"/>
            <a:ext cx="8001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campaigns 域 10 表 · 案件域(recall_cases 等)· 处置域 11 表 · 事故域 · 身份与后台 · 支撑域(Outbox / 幂等 / 退款导出);Drizzle 管理 24 个迁移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页面与端点清单见三仓库 README 与 koi-recall-backend/openapi/toc-v1.openapi.yaml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817352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08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6F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SECURITY &amp; QUALITY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安全合规与质量保障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C96F3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4350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969264" y="15179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" y="184708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AES-256-GCM 字段加密 · HMAC 查询哈希 · 两级 PII 脱敏 · 证据私有存储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78024"/>
            <a:ext cx="594360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8833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2F9A7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7736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969264" y="26517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访问控制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9264" y="298094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双角色(ADMIN / MANAGER)· 后端权威 403 + 拒绝审计 · 处置细粒度权限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594360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22192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3E8EC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81121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969264" y="37856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可靠与防滥用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" y="41148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Upstash 跨实例限流 · Idempotency-Key 幂等 · 单事务 + Outbox · 失败关闭 501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745736"/>
            <a:ext cx="594360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956048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B07E1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94507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969264" y="49194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通信安全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9264" y="524865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Svix webhook 验签 · 一次性 upload token · CRON_SECRET 内部任务保护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086600" y="1463040"/>
            <a:ext cx="4645152" cy="2834640"/>
          </a:xfrm>
          <a:prstGeom prst="roundRect">
            <a:avLst>
              <a:gd name="adj" fmla="val 2903"/>
            </a:avLst>
          </a:prstGeom>
          <a:solidFill>
            <a:srgbClr val="FBEADD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1627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4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合规闭环(面向 CPSC 监管)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315200" y="1975104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6E4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Incident 事故上报 → 伤害事故强制 escalated 升级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6E4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Reportability Review:pending → filed(含 CPSC 编号)/ documented_non_reportable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6E4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closure_review 双门闩:处置完成 + 可报告性关闭,方可 closed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6E4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审计事件全留痕 · 先建案后处置(claim-before-disposal)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086600" y="4480560"/>
            <a:ext cx="464515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  <a:effectLst>
            <a:outerShdw sx="100000" sy="100000" kx="0" ky="0" algn="bl" rotWithShape="0" blurRad="88900" dist="25400" dir="5400000">
              <a:srgbClr val="1E3A4F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46268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315200" y="495604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Vitest 三层测试(静态 → 单元/HTTP → PG 集成)· D01–D29 处置验收矩阵 · CI 门禁全绿 · 三仓库冒烟测试留档 · openapi:check + db:check 防漂移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安全设计详见 koi-recall-backend README 与 CONTEXT.md · 验收矩阵 docs/disposal-acceptance.md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817352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7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08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F9D5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66267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1E3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KOI</a:t>
            </a:r>
            <a:endParaRPr lang="en-US" sz="1716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 · 持续演进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27249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D0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三端已部署 koiimprtinc.com · CI 全绿 · 邮件全链路贯通 · 事故整改推进中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9D5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遗留风险与待办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4178808"/>
            <a:ext cx="128016" cy="128016"/>
          </a:xfrm>
          <a:prstGeom prst="rect">
            <a:avLst/>
          </a:prstGeom>
          <a:solidFill>
            <a:srgbClr val="F9D56E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4114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邮件时效  </a:t>
            </a:r>
            <a:pPr indent="0" marL="0">
              <a:buNone/>
            </a:pPr>
            <a:r>
              <a:rPr lang="en-US" sz="1250" dirty="0">
                <a:solidFill>
                  <a:srgbClr val="9FB2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Vercel Hobby cron 每日仅一次,通知最长延迟 24h(建议升 Pro)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6208" y="4178808"/>
            <a:ext cx="128016" cy="128016"/>
          </a:xfrm>
          <a:prstGeom prst="rect">
            <a:avLst/>
          </a:prstGeom>
          <a:solidFill>
            <a:srgbClr val="F9D56E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4114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负载测试  </a:t>
            </a:r>
            <a:pPr indent="0" marL="0">
              <a:buNone/>
            </a:pPr>
            <a:r>
              <a:rPr lang="en-US" sz="1250" dirty="0">
                <a:solidFill>
                  <a:srgbClr val="9FB2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容量基准脚本已有(capacity-benchmark),尚未体系化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1248" y="5020056"/>
            <a:ext cx="128016" cy="128016"/>
          </a:xfrm>
          <a:prstGeom prst="rect">
            <a:avLst/>
          </a:prstGeom>
          <a:solidFill>
            <a:srgbClr val="F9D56E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495604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遗留桥接  </a:t>
            </a:r>
            <a:pPr indent="0" marL="0">
              <a:buNone/>
            </a:pPr>
            <a:r>
              <a:rPr lang="en-US" sz="1250" dirty="0">
                <a:solidFill>
                  <a:srgbClr val="9FB2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shared-claims-store localStorage 桥接待退出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36208" y="5020056"/>
            <a:ext cx="128016" cy="128016"/>
          </a:xfrm>
          <a:prstGeom prst="rect">
            <a:avLst/>
          </a:prstGeom>
          <a:solidFill>
            <a:srgbClr val="F9D56E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495604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业务材料  </a:t>
            </a:r>
            <a:pPr indent="0" marL="0">
              <a:buNone/>
            </a:pPr>
            <a:r>
              <a:rPr lang="en-US" sz="1250" dirty="0">
                <a:solidFill>
                  <a:srgbClr val="9FB2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D27 处置内容包 · E4 部分材料待业务定稿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6035040"/>
            <a:ext cx="10515600" cy="0"/>
          </a:xfrm>
          <a:prstGeom prst="line">
            <a:avLst/>
          </a:prstGeom>
          <a:noFill/>
          <a:ln w="12700">
            <a:solidFill>
              <a:srgbClr val="3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61996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koi-recall-web / koi-recall-admin / koi-recall-backend 三仓库 README · docs · package.json 及项目周报(2026-09-18)整理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KOI Recall 召回平台全景导图</dc:title>
  <dc:subject>所用技术 · 实现步骤 · 功能需求 · 安全合规</dc:subject>
  <dc:creator>KOI Recall 项目组</dc:creator>
  <cp:lastModifiedBy>KOI Recall 项目组</cp:lastModifiedBy>
  <cp:revision>1</cp:revision>
  <dcterms:created xsi:type="dcterms:W3CDTF">2026-09-29T05:53:44Z</dcterms:created>
  <dcterms:modified xsi:type="dcterms:W3CDTF">2026-09-29T05:53:44Z</dcterms:modified>
</cp:coreProperties>
</file>